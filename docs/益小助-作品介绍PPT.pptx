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3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E5BBC5A-7986-4DA5-BDD2-E66936ACDA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0">
            <a:solidFill>
              <a:srgbClr val="FFFDF7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09FF44-072B-447B-9299-9AFB12A43C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38125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87BB4A7-AEF5-4C8B-B688-DC89C20D4BB1}"/>
              </a:ext>
            </a:extLst>
          </p:cNvPr>
          <p:cNvSpPr>
            <a:spLocks noGrp="1"/>
          </p:cNvSpPr>
          <p:nvPr/>
        </p:nvSpPr>
        <p:spPr>
          <a:xfrm>
            <a:off x="8382000" y="742950"/>
            <a:ext cx="2667000" cy="2667000"/>
          </a:xfrm>
          <a:prstGeom prst="ellipse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F14CDCD-20E6-4079-B7A7-98ED3887FBD3}"/>
              </a:ext>
            </a:extLst>
          </p:cNvPr>
          <p:cNvSpPr>
            <a:spLocks noGrp="1"/>
          </p:cNvSpPr>
          <p:nvPr/>
        </p:nvSpPr>
        <p:spPr>
          <a:xfrm>
            <a:off x="8953500" y="1028700"/>
            <a:ext cx="2095500" cy="2095500"/>
          </a:xfrm>
          <a:prstGeom prst="ellipse">
            <a:avLst/>
          </a:prstGeom>
          <a:solidFill>
            <a:srgbClr val="CFE6D4"/>
          </a:solidFill>
          <a:ln w="0">
            <a:solidFill>
              <a:srgbClr val="CFE6D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D4B072-1135-42A9-81E9-5C0FF5D4690C}"/>
              </a:ext>
            </a:extLst>
          </p:cNvPr>
          <p:cNvSpPr>
            <a:spLocks noGrp="1"/>
          </p:cNvSpPr>
          <p:nvPr/>
        </p:nvSpPr>
        <p:spPr>
          <a:xfrm>
            <a:off x="742950" y="971550"/>
            <a:ext cx="4953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dirty="0" err="1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益小助</a:t>
            </a:r>
            <a:endParaRPr sz="3600" b="1" dirty="0">
              <a:solidFill>
                <a:srgbClr val="FFFD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D20E3-B34E-46E3-BB6F-4E49844E4C67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590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6FB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BF8"/>
                </a:solidFill>
                <a:latin typeface="Aptos"/>
                <a:ea typeface="Aptos"/>
                <a:cs typeface="Aptos"/>
              </a:rPr>
              <a:t>基于 AI 的校园公益资源智能匹配小程序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9160B0-E178-437D-AFFF-1F5E16B1A5AB}"/>
              </a:ext>
            </a:extLst>
          </p:cNvPr>
          <p:cNvSpPr>
            <a:spLocks noGrp="1"/>
          </p:cNvSpPr>
          <p:nvPr/>
        </p:nvSpPr>
        <p:spPr>
          <a:xfrm>
            <a:off x="742950" y="2895600"/>
            <a:ext cx="438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800" b="1" dirty="0" err="1">
                <a:solidFill>
                  <a:srgbClr val="22352D"/>
                </a:solidFill>
                <a:latin typeface="Aptos"/>
                <a:ea typeface="Aptos"/>
                <a:cs typeface="Aptos"/>
              </a:rPr>
              <a:t>让闲置资源更快遇见真正需要的人</a:t>
            </a:r>
            <a:endParaRPr sz="1800" b="1" dirty="0">
              <a:solidFill>
                <a:srgbClr val="2235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418C8A4-57C9-410E-A4C3-3AB30758439A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95250" cy="95250"/>
          </a:xfrm>
          <a:prstGeom prst="ellipse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A20C1B-E425-48A0-A5F4-10ADE7DADB88}"/>
              </a:ext>
            </a:extLst>
          </p:cNvPr>
          <p:cNvSpPr>
            <a:spLocks noGrp="1"/>
          </p:cNvSpPr>
          <p:nvPr/>
        </p:nvSpPr>
        <p:spPr>
          <a:xfrm>
            <a:off x="1028700" y="3524250"/>
            <a:ext cx="628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聚焦旧书教材、闲置物资、失物招领、爱心帮扶等真实校园场景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CA999C-D657-43CD-8509-2399BCFF72BA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95250" cy="95250"/>
          </a:xfrm>
          <a:prstGeom prst="ellipse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BD3C47-BFCF-464D-B06E-76637BE748C1}"/>
              </a:ext>
            </a:extLst>
          </p:cNvPr>
          <p:cNvSpPr>
            <a:spLocks noGrp="1"/>
          </p:cNvSpPr>
          <p:nvPr/>
        </p:nvSpPr>
        <p:spPr>
          <a:xfrm>
            <a:off x="1028700" y="4019550"/>
            <a:ext cx="628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融合 AI 分类、标签提取、文案优化、风险识别与智能匹配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84530E0-87FD-4938-AC66-EC967AA9E3E6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95250" cy="95250"/>
          </a:xfrm>
          <a:prstGeom prst="ellipse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47C43D-EF1A-4564-84AE-7E178F1A038C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628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支持图片上传、用户评估价、对接评价与信誉积分闭环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EE9621-CBF0-4F6B-939C-62E5B37BB055}"/>
              </a:ext>
            </a:extLst>
          </p:cNvPr>
          <p:cNvSpPr>
            <a:spLocks noGrp="1"/>
          </p:cNvSpPr>
          <p:nvPr/>
        </p:nvSpPr>
        <p:spPr>
          <a:xfrm>
            <a:off x="7372349" y="3714750"/>
            <a:ext cx="4624917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318097A-8256-4ACA-A157-A708D40465B3}"/>
              </a:ext>
            </a:extLst>
          </p:cNvPr>
          <p:cNvSpPr>
            <a:spLocks noGrp="1"/>
          </p:cNvSpPr>
          <p:nvPr/>
        </p:nvSpPr>
        <p:spPr>
          <a:xfrm>
            <a:off x="7636933" y="3943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rgbClr val="2F7D5C"/>
                </a:solidFill>
                <a:latin typeface="Aptos"/>
                <a:ea typeface="Aptos"/>
                <a:cs typeface="Aptos"/>
              </a:rPr>
              <a:t>项目链接</a:t>
            </a:r>
            <a:endParaRPr sz="1600" b="1" dirty="0">
              <a:solidFill>
                <a:srgbClr val="2F7D5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26D7A91-1DED-412E-97F9-1660E08E0614}"/>
              </a:ext>
            </a:extLst>
          </p:cNvPr>
          <p:cNvSpPr>
            <a:spLocks noGrp="1"/>
          </p:cNvSpPr>
          <p:nvPr/>
        </p:nvSpPr>
        <p:spPr>
          <a:xfrm>
            <a:off x="7658100" y="4362450"/>
            <a:ext cx="4591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22352D"/>
                </a:solidFill>
                <a:latin typeface="Aptos"/>
                <a:ea typeface="Aptos"/>
                <a:cs typeface="Aptos"/>
              </a:rPr>
              <a:t>github.com/LcYun53188/</a:t>
            </a:r>
            <a:r>
              <a:rPr sz="1600" b="0" dirty="0" err="1">
                <a:solidFill>
                  <a:srgbClr val="22352D"/>
                </a:solidFill>
                <a:latin typeface="Aptos"/>
                <a:ea typeface="Aptos"/>
                <a:cs typeface="Aptos"/>
              </a:rPr>
              <a:t>yixiaozhu_miniprogram</a:t>
            </a:r>
            <a:endParaRPr sz="1600" b="0" dirty="0">
              <a:solidFill>
                <a:srgbClr val="2235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96956C3-ADAB-4411-AEE2-F78920EA6127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2026 年辽宁省大学生移动应用开发大赛校级选拔赛</a:t>
            </a:r>
          </a:p>
        </p:txBody>
      </p:sp>
    </p:spTree>
    <p:extLst>
      <p:ext uri="{BB962C8B-B14F-4D97-AF65-F5344CB8AC3E}">
        <p14:creationId xmlns:p14="http://schemas.microsoft.com/office/powerpoint/2010/main" val="1008276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F7CD93A-7E2C-449E-AE67-C403AFC81A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0">
            <a:solidFill>
              <a:srgbClr val="FFFDF7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CA6004-0313-4B69-8C61-70BF0A71BD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AAC2C2-B458-43CD-8011-488B2119C86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Project Positioning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B1A365-FDE1-42B7-946E-4930046418F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rPr>
              <a:t>项目定位与核心主张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170831-BD1C-46B3-8AB8-6931089881B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04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益小助 | 基于 AI 的校园公益资源智能匹配小程序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6FEFA3-B4AB-42AC-A6DC-BFD44EF1DFA0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7B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20CD22-A8F3-4366-973D-1BD14632D29F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76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益小助不是单纯的信息发布页，而是一个兼顾信息质量、匹配效率和平台信任机制的校园公益互助系统。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BD467D1-F3A8-418E-B85F-77487C2DCA56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95250" cy="95250"/>
          </a:xfrm>
          <a:prstGeom prst="ellipse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24F580-C811-49C1-B341-34271D553EED}"/>
              </a:ext>
            </a:extLst>
          </p:cNvPr>
          <p:cNvSpPr>
            <a:spLocks noGrp="1"/>
          </p:cNvSpPr>
          <p:nvPr/>
        </p:nvSpPr>
        <p:spPr>
          <a:xfrm>
            <a:off x="952500" y="2114550"/>
            <a:ext cx="476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服务对象覆盖在校学生、学生组织、志愿服务团队与审核管理人员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0F89ACF-6775-442B-AFAE-3A8671AA26AF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95250" cy="95250"/>
          </a:xfrm>
          <a:prstGeom prst="ellipse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32C826-2AF4-40B9-9E36-070462E6A39C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76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围绕“发布、审核、匹配、对接、评价、信誉沉淀”构建完整闭环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ED58006-4E80-4855-B8C9-22EEB9901505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95250" cy="95250"/>
          </a:xfrm>
          <a:prstGeom prst="ellipse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15F960-33BD-45B7-B1E7-71BFD5EBCA65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476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以微信小程序作为轻量入口，以 AI 作为信息处理增强模块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1EC526-0A5A-4B0B-A829-DBE313B3FAB6}"/>
              </a:ext>
            </a:extLst>
          </p:cNvPr>
          <p:cNvSpPr>
            <a:spLocks noGrp="1"/>
          </p:cNvSpPr>
          <p:nvPr/>
        </p:nvSpPr>
        <p:spPr>
          <a:xfrm>
            <a:off x="6724650" y="2114550"/>
            <a:ext cx="4286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396271-974A-4DA1-94D7-F234126590B4}"/>
              </a:ext>
            </a:extLst>
          </p:cNvPr>
          <p:cNvSpPr>
            <a:spLocks noGrp="1"/>
          </p:cNvSpPr>
          <p:nvPr/>
        </p:nvSpPr>
        <p:spPr>
          <a:xfrm>
            <a:off x="6724650" y="2114550"/>
            <a:ext cx="76200" cy="112395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334DFE-BE67-434C-9311-8C04932AD807}"/>
              </a:ext>
            </a:extLst>
          </p:cNvPr>
          <p:cNvSpPr>
            <a:spLocks noGrp="1"/>
          </p:cNvSpPr>
          <p:nvPr/>
        </p:nvSpPr>
        <p:spPr>
          <a:xfrm>
            <a:off x="6934200" y="2286000"/>
            <a:ext cx="396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核心价值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5099BC6-27FA-4053-90F9-A25AE26B727E}"/>
              </a:ext>
            </a:extLst>
          </p:cNvPr>
          <p:cNvSpPr>
            <a:spLocks noGrp="1"/>
          </p:cNvSpPr>
          <p:nvPr/>
        </p:nvSpPr>
        <p:spPr>
          <a:xfrm>
            <a:off x="6934200" y="2628900"/>
            <a:ext cx="3962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集中校园公益信息、提升信息表达质量、增强供需匹配效率，并通过审核与信誉机制建立长期可持续的信任体系。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176152-BBFA-40C5-AF32-BFF97844B9B4}"/>
              </a:ext>
            </a:extLst>
          </p:cNvPr>
          <p:cNvSpPr>
            <a:spLocks noGrp="1"/>
          </p:cNvSpPr>
          <p:nvPr/>
        </p:nvSpPr>
        <p:spPr>
          <a:xfrm>
            <a:off x="6724650" y="3467100"/>
            <a:ext cx="4286250" cy="1123950"/>
          </a:xfrm>
          <a:prstGeom prst="rect">
            <a:avLst/>
          </a:prstGeom>
          <a:solidFill>
            <a:srgbClr val="F9FBF7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E101B21-02CE-4DA6-8B98-77448CEE65F2}"/>
              </a:ext>
            </a:extLst>
          </p:cNvPr>
          <p:cNvSpPr>
            <a:spLocks noGrp="1"/>
          </p:cNvSpPr>
          <p:nvPr/>
        </p:nvSpPr>
        <p:spPr>
          <a:xfrm>
            <a:off x="6724650" y="3467100"/>
            <a:ext cx="76200" cy="11239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4A2BDE-9EB2-4712-91BF-196EF9FF2DFA}"/>
              </a:ext>
            </a:extLst>
          </p:cNvPr>
          <p:cNvSpPr>
            <a:spLocks noGrp="1"/>
          </p:cNvSpPr>
          <p:nvPr/>
        </p:nvSpPr>
        <p:spPr>
          <a:xfrm>
            <a:off x="6934200" y="3638550"/>
            <a:ext cx="396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比赛亮点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13C5E3-F14D-475F-95F2-979E98E364C9}"/>
              </a:ext>
            </a:extLst>
          </p:cNvPr>
          <p:cNvSpPr>
            <a:spLocks noGrp="1"/>
          </p:cNvSpPr>
          <p:nvPr/>
        </p:nvSpPr>
        <p:spPr>
          <a:xfrm>
            <a:off x="6934200" y="3981450"/>
            <a:ext cx="3962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图片上传、用户评估价、AI 标签和文案优化、评价与信誉积分都已进入当前项目口径，展示内容完整且可落地。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22E626-5956-428C-BF82-28E1D1CAD584}"/>
              </a:ext>
            </a:extLst>
          </p:cNvPr>
          <p:cNvSpPr>
            <a:spLocks noGrp="1"/>
          </p:cNvSpPr>
          <p:nvPr/>
        </p:nvSpPr>
        <p:spPr>
          <a:xfrm>
            <a:off x="6724650" y="4819650"/>
            <a:ext cx="4286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23B4C1-2F9D-4950-BD9B-5DF3653E3B97}"/>
              </a:ext>
            </a:extLst>
          </p:cNvPr>
          <p:cNvSpPr>
            <a:spLocks noGrp="1"/>
          </p:cNvSpPr>
          <p:nvPr/>
        </p:nvSpPr>
        <p:spPr>
          <a:xfrm>
            <a:off x="6724650" y="4819650"/>
            <a:ext cx="76200" cy="1123950"/>
          </a:xfrm>
          <a:prstGeom prst="rect">
            <a:avLst/>
          </a:prstGeom>
          <a:solidFill>
            <a:srgbClr val="224838"/>
          </a:solidFill>
          <a:ln w="0">
            <a:solidFill>
              <a:srgbClr val="22483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5D88A2-733B-415F-BA55-4A970D1FE8C5}"/>
              </a:ext>
            </a:extLst>
          </p:cNvPr>
          <p:cNvSpPr>
            <a:spLocks noGrp="1"/>
          </p:cNvSpPr>
          <p:nvPr/>
        </p:nvSpPr>
        <p:spPr>
          <a:xfrm>
            <a:off x="6934200" y="4991100"/>
            <a:ext cx="396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答辩一句话概括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DAD37-4D3B-4548-86DE-5F097C218E24}"/>
              </a:ext>
            </a:extLst>
          </p:cNvPr>
          <p:cNvSpPr>
            <a:spLocks noGrp="1"/>
          </p:cNvSpPr>
          <p:nvPr/>
        </p:nvSpPr>
        <p:spPr>
          <a:xfrm>
            <a:off x="6934200" y="5334000"/>
            <a:ext cx="3962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让校园里的闲置资源和真实需求，通过 AI 和移动端服务，更快、更准、更可信地完成连接。</a:t>
            </a:r>
          </a:p>
        </p:txBody>
      </p:sp>
    </p:spTree>
    <p:extLst>
      <p:ext uri="{BB962C8B-B14F-4D97-AF65-F5344CB8AC3E}">
        <p14:creationId xmlns:p14="http://schemas.microsoft.com/office/powerpoint/2010/main" val="1650622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08C17826-41E1-4FA1-94EB-CD018896D1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0">
            <a:solidFill>
              <a:srgbClr val="FFFDF7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BD79D7-DB1D-4711-8EE5-9856A1A71C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F26146-B877-4D19-8262-B13E894596B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Background &amp; Pain Points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51551C-B3EC-4E8D-8665-8C68F77C166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rPr>
              <a:t>创作背景与痛点分析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DF504C-218B-4A9A-847F-EF1EF66D227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04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益小助 | 基于 AI 的校园公益资源智能匹配小程序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85CE1C-6CDF-405F-8064-CBD61552E993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7B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4DAD10-DC8B-4603-8566-7A76705D894F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66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校园公益资源长期存在，但信息传播方式零散、表达不完整、对接效率低、信任机制薄弱。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82AD95-184A-4C39-8B8E-4A2CA0760F52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1435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FB2A12-A082-44BE-91A9-563252410F3F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76200" cy="121920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7EB44D-8D1F-49C2-8F2C-85E54A14D16F}"/>
              </a:ext>
            </a:extLst>
          </p:cNvPr>
          <p:cNvSpPr>
            <a:spLocks noGrp="1"/>
          </p:cNvSpPr>
          <p:nvPr/>
        </p:nvSpPr>
        <p:spPr>
          <a:xfrm>
            <a:off x="895350" y="2266950"/>
            <a:ext cx="481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创作背景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D797F2-F2B4-4765-90E6-A5D8D2CC6586}"/>
              </a:ext>
            </a:extLst>
          </p:cNvPr>
          <p:cNvSpPr>
            <a:spLocks noGrp="1"/>
          </p:cNvSpPr>
          <p:nvPr/>
        </p:nvSpPr>
        <p:spPr>
          <a:xfrm>
            <a:off x="895350" y="2609850"/>
            <a:ext cx="4819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班级群、社团群、朋友圈和线下公告栏仍是校园公益资源流转的主要渠道，但这类方式难以沉淀信息，也缺乏统一规则和治理机制。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D218B1-0F65-4001-A944-EAA8994A96D6}"/>
              </a:ext>
            </a:extLst>
          </p:cNvPr>
          <p:cNvSpPr>
            <a:spLocks noGrp="1"/>
          </p:cNvSpPr>
          <p:nvPr/>
        </p:nvSpPr>
        <p:spPr>
          <a:xfrm>
            <a:off x="6362700" y="2095500"/>
            <a:ext cx="51435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E457E5-8351-41EE-8F5B-C9817049F97D}"/>
              </a:ext>
            </a:extLst>
          </p:cNvPr>
          <p:cNvSpPr>
            <a:spLocks noGrp="1"/>
          </p:cNvSpPr>
          <p:nvPr/>
        </p:nvSpPr>
        <p:spPr>
          <a:xfrm>
            <a:off x="6362700" y="2095500"/>
            <a:ext cx="76200" cy="12192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B7E4FB-5CC4-4342-AF26-CE18C4FCA1C6}"/>
              </a:ext>
            </a:extLst>
          </p:cNvPr>
          <p:cNvSpPr>
            <a:spLocks noGrp="1"/>
          </p:cNvSpPr>
          <p:nvPr/>
        </p:nvSpPr>
        <p:spPr>
          <a:xfrm>
            <a:off x="6572250" y="2266950"/>
            <a:ext cx="481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为什么引入 AI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D26525-4CDD-43A0-80D2-F81AABC002AA}"/>
              </a:ext>
            </a:extLst>
          </p:cNvPr>
          <p:cNvSpPr>
            <a:spLocks noGrp="1"/>
          </p:cNvSpPr>
          <p:nvPr/>
        </p:nvSpPr>
        <p:spPr>
          <a:xfrm>
            <a:off x="6572250" y="2609850"/>
            <a:ext cx="4819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文本分类、标签提取、语义匹配与风险识别能力已经成熟，可以显著提升资源信息整理效率、审核效率和供需推荐质量。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08CA1C-43AE-4FF5-A0E5-A0405C59F3D8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5143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260CFB-7421-4F59-A235-27725124CFB2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76200" cy="99060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554885-F94E-4812-959F-A09072FA512E}"/>
              </a:ext>
            </a:extLst>
          </p:cNvPr>
          <p:cNvSpPr>
            <a:spLocks noGrp="1"/>
          </p:cNvSpPr>
          <p:nvPr/>
        </p:nvSpPr>
        <p:spPr>
          <a:xfrm>
            <a:off x="895350" y="3848100"/>
            <a:ext cx="481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信息传播碎片化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5C394B-5272-4D6D-82FB-E795790334F8}"/>
              </a:ext>
            </a:extLst>
          </p:cNvPr>
          <p:cNvSpPr>
            <a:spLocks noGrp="1"/>
          </p:cNvSpPr>
          <p:nvPr/>
        </p:nvSpPr>
        <p:spPr>
          <a:xfrm>
            <a:off x="895350" y="4191000"/>
            <a:ext cx="4819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资源分散在多个群和线下通知中，容易沉底，真正需要的人未必能及时看到。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8174B0-2EC9-4EC5-A03B-9AD59AC23989}"/>
              </a:ext>
            </a:extLst>
          </p:cNvPr>
          <p:cNvSpPr>
            <a:spLocks noGrp="1"/>
          </p:cNvSpPr>
          <p:nvPr/>
        </p:nvSpPr>
        <p:spPr>
          <a:xfrm>
            <a:off x="6362700" y="3676650"/>
            <a:ext cx="5143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49884CF-2148-4F3F-AEE5-BEC9699F8A42}"/>
              </a:ext>
            </a:extLst>
          </p:cNvPr>
          <p:cNvSpPr>
            <a:spLocks noGrp="1"/>
          </p:cNvSpPr>
          <p:nvPr/>
        </p:nvSpPr>
        <p:spPr>
          <a:xfrm>
            <a:off x="6362700" y="3676650"/>
            <a:ext cx="76200" cy="99060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9E0A90C-2789-4031-9403-621040AFE765}"/>
              </a:ext>
            </a:extLst>
          </p:cNvPr>
          <p:cNvSpPr>
            <a:spLocks noGrp="1"/>
          </p:cNvSpPr>
          <p:nvPr/>
        </p:nvSpPr>
        <p:spPr>
          <a:xfrm>
            <a:off x="6572250" y="3848100"/>
            <a:ext cx="481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信息质量参差不齐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AE14D1F-B9A1-44BB-8F2F-E4429F6E27E6}"/>
              </a:ext>
            </a:extLst>
          </p:cNvPr>
          <p:cNvSpPr>
            <a:spLocks noGrp="1"/>
          </p:cNvSpPr>
          <p:nvPr/>
        </p:nvSpPr>
        <p:spPr>
          <a:xfrm>
            <a:off x="6572250" y="4191000"/>
            <a:ext cx="4819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缺少分类、图片、标签和参考说明，导致资源是否值得联系难以判断。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9F6BA4C-7A13-46A7-BF73-3B3806E56239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5143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4ADE175-2B28-4EE8-9AF1-2C263B01928C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76200" cy="99060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B818FC9-3885-427C-A566-2F8D438D33AE}"/>
              </a:ext>
            </a:extLst>
          </p:cNvPr>
          <p:cNvSpPr>
            <a:spLocks noGrp="1"/>
          </p:cNvSpPr>
          <p:nvPr/>
        </p:nvSpPr>
        <p:spPr>
          <a:xfrm>
            <a:off x="895350" y="5010150"/>
            <a:ext cx="481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匹配主要依赖人工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6B202AF-9751-41F0-BADE-ECA2129B535E}"/>
              </a:ext>
            </a:extLst>
          </p:cNvPr>
          <p:cNvSpPr>
            <a:spLocks noGrp="1"/>
          </p:cNvSpPr>
          <p:nvPr/>
        </p:nvSpPr>
        <p:spPr>
          <a:xfrm>
            <a:off x="895350" y="5353050"/>
            <a:ext cx="4819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用户需要自己逐条筛选，大量时间消耗在找信息而不是完成对接。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6D96EDB-5BDA-4E4A-82E8-6A70E148835F}"/>
              </a:ext>
            </a:extLst>
          </p:cNvPr>
          <p:cNvSpPr>
            <a:spLocks noGrp="1"/>
          </p:cNvSpPr>
          <p:nvPr/>
        </p:nvSpPr>
        <p:spPr>
          <a:xfrm>
            <a:off x="6362700" y="4838700"/>
            <a:ext cx="5143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BFB6E47-5937-4798-BFEE-E99B4584FBBC}"/>
              </a:ext>
            </a:extLst>
          </p:cNvPr>
          <p:cNvSpPr>
            <a:spLocks noGrp="1"/>
          </p:cNvSpPr>
          <p:nvPr/>
        </p:nvSpPr>
        <p:spPr>
          <a:xfrm>
            <a:off x="6362700" y="4838700"/>
            <a:ext cx="76200" cy="99060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2C885F0-3F7E-4CA6-ABD6-9D555FB80D72}"/>
              </a:ext>
            </a:extLst>
          </p:cNvPr>
          <p:cNvSpPr>
            <a:spLocks noGrp="1"/>
          </p:cNvSpPr>
          <p:nvPr/>
        </p:nvSpPr>
        <p:spPr>
          <a:xfrm>
            <a:off x="6572250" y="5010150"/>
            <a:ext cx="481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平台信任难沉淀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6F5306F-0AF2-422B-BE34-44789238B949}"/>
              </a:ext>
            </a:extLst>
          </p:cNvPr>
          <p:cNvSpPr>
            <a:spLocks noGrp="1"/>
          </p:cNvSpPr>
          <p:nvPr/>
        </p:nvSpPr>
        <p:spPr>
          <a:xfrm>
            <a:off x="6572250" y="5353050"/>
            <a:ext cx="4819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缺乏审核、评价和信誉体系，平台内容质量和用户信任难以长期维持。</a:t>
            </a:r>
          </a:p>
        </p:txBody>
      </p:sp>
    </p:spTree>
    <p:extLst>
      <p:ext uri="{BB962C8B-B14F-4D97-AF65-F5344CB8AC3E}">
        <p14:creationId xmlns:p14="http://schemas.microsoft.com/office/powerpoint/2010/main" val="662170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C4460E5B-B9E2-468D-8345-3066DC659C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0">
            <a:solidFill>
              <a:srgbClr val="FFFDF7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4247E5-0D5F-480F-8C6E-14892586AA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B34971-BB9D-47CD-9365-CDD5ABFDD00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Use Cases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2ED4FD-8E52-483A-BCB1-9CAD072D70D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rPr>
              <a:t>应用场景与用户价值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5B5B5B-2C6F-43E2-B6CF-D6A049B555E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04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益小助 | 基于 AI 的校园公益资源智能匹配小程序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F37650-7393-4D6C-924E-7DDD65F14FAE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7B7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B5460-3432-41E8-8BE5-ED6488AA13F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51435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6E1D90-8242-45B0-BE72-212EF8AB4534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6200" cy="137160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E1CE08-71A4-43BF-BE03-5F9F064B14E1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481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旧书教材转赠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26A13A-345C-4551-ACC7-BC40CCD45719}"/>
              </a:ext>
            </a:extLst>
          </p:cNvPr>
          <p:cNvSpPr>
            <a:spLocks noGrp="1"/>
          </p:cNvSpPr>
          <p:nvPr/>
        </p:nvSpPr>
        <p:spPr>
          <a:xfrm>
            <a:off x="895350" y="2247900"/>
            <a:ext cx="48196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上传教材图片、课程类别、适用对象和用户评估价，帮助低年级学生快速获取真实可用的学习资源。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62CAFD-7ADF-4906-82AB-AF49ED8757E6}"/>
              </a:ext>
            </a:extLst>
          </p:cNvPr>
          <p:cNvSpPr>
            <a:spLocks noGrp="1"/>
          </p:cNvSpPr>
          <p:nvPr/>
        </p:nvSpPr>
        <p:spPr>
          <a:xfrm>
            <a:off x="6362700" y="1733550"/>
            <a:ext cx="5143500" cy="1371600"/>
          </a:xfrm>
          <a:prstGeom prst="rect">
            <a:avLst/>
          </a:prstGeom>
          <a:solidFill>
            <a:srgbClr val="F9FBF7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262DAB-77DE-4E8A-A5E3-38071C89AA80}"/>
              </a:ext>
            </a:extLst>
          </p:cNvPr>
          <p:cNvSpPr>
            <a:spLocks noGrp="1"/>
          </p:cNvSpPr>
          <p:nvPr/>
        </p:nvSpPr>
        <p:spPr>
          <a:xfrm>
            <a:off x="6362700" y="1733550"/>
            <a:ext cx="76200" cy="13716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A8BD567-19F8-4756-BA61-10135D95771D}"/>
              </a:ext>
            </a:extLst>
          </p:cNvPr>
          <p:cNvSpPr>
            <a:spLocks noGrp="1"/>
          </p:cNvSpPr>
          <p:nvPr/>
        </p:nvSpPr>
        <p:spPr>
          <a:xfrm>
            <a:off x="6572250" y="1905000"/>
            <a:ext cx="481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闲置物资共享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668E3D-5D36-4C43-A09C-3B082A8A5346}"/>
              </a:ext>
            </a:extLst>
          </p:cNvPr>
          <p:cNvSpPr>
            <a:spLocks noGrp="1"/>
          </p:cNvSpPr>
          <p:nvPr/>
        </p:nvSpPr>
        <p:spPr>
          <a:xfrm>
            <a:off x="6572250" y="2247900"/>
            <a:ext cx="48196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围绕台灯、衣物、文具、小家电等物资进行统一展示，减少资源闲置和重复购买。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79AE8F-B98F-4F7B-BA49-75884562F1DF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51435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F7C0AF-81A5-49A2-8C8A-E34C65FBC9A3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76200" cy="137160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25833E-B1D5-4115-9147-2C6897C8C0F3}"/>
              </a:ext>
            </a:extLst>
          </p:cNvPr>
          <p:cNvSpPr>
            <a:spLocks noGrp="1"/>
          </p:cNvSpPr>
          <p:nvPr/>
        </p:nvSpPr>
        <p:spPr>
          <a:xfrm>
            <a:off x="895350" y="3505200"/>
            <a:ext cx="481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失物招领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FB9BEC-7939-4FE4-B5BC-0EE9B72B4A3D}"/>
              </a:ext>
            </a:extLst>
          </p:cNvPr>
          <p:cNvSpPr>
            <a:spLocks noGrp="1"/>
          </p:cNvSpPr>
          <p:nvPr/>
        </p:nvSpPr>
        <p:spPr>
          <a:xfrm>
            <a:off x="895350" y="3848100"/>
            <a:ext cx="48196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通过图片、分类和关键词集中管理失物信息，提高拾获方与失主之间的连接效率。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E09688A-B6B3-4BF7-8F54-7404B37F46E7}"/>
              </a:ext>
            </a:extLst>
          </p:cNvPr>
          <p:cNvSpPr>
            <a:spLocks noGrp="1"/>
          </p:cNvSpPr>
          <p:nvPr/>
        </p:nvSpPr>
        <p:spPr>
          <a:xfrm>
            <a:off x="6362700" y="3333750"/>
            <a:ext cx="5143500" cy="1371600"/>
          </a:xfrm>
          <a:prstGeom prst="rect">
            <a:avLst/>
          </a:prstGeom>
          <a:solidFill>
            <a:srgbClr val="F9FBF7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534DD3-9724-4AF6-9CB7-C5FD3612B031}"/>
              </a:ext>
            </a:extLst>
          </p:cNvPr>
          <p:cNvSpPr>
            <a:spLocks noGrp="1"/>
          </p:cNvSpPr>
          <p:nvPr/>
        </p:nvSpPr>
        <p:spPr>
          <a:xfrm>
            <a:off x="6362700" y="3333750"/>
            <a:ext cx="76200" cy="13716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F999C3-CA45-42AD-9795-485CDA7BFE07}"/>
              </a:ext>
            </a:extLst>
          </p:cNvPr>
          <p:cNvSpPr>
            <a:spLocks noGrp="1"/>
          </p:cNvSpPr>
          <p:nvPr/>
        </p:nvSpPr>
        <p:spPr>
          <a:xfrm>
            <a:off x="6572250" y="3505200"/>
            <a:ext cx="481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爱心帮扶求助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62A155C-CAF8-4A93-8545-489642AEAF05}"/>
              </a:ext>
            </a:extLst>
          </p:cNvPr>
          <p:cNvSpPr>
            <a:spLocks noGrp="1"/>
          </p:cNvSpPr>
          <p:nvPr/>
        </p:nvSpPr>
        <p:spPr>
          <a:xfrm>
            <a:off x="6572250" y="3848100"/>
            <a:ext cx="48196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对时间敏感、资源紧缺的需求进行优先推荐，增强校园中的临时互助能力。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F561ACE-1E75-4D49-8B61-67D99CD0B096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48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4838"/>
                </a:solidFill>
                <a:latin typeface="Aptos"/>
                <a:ea typeface="Aptos"/>
                <a:cs typeface="Aptos"/>
              </a:rPr>
              <a:t>场景共同特点：资源真实存在、需求清晰高频、对接需要时效、平台需要信任机制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E2B6470-D570-458D-AD50-22FBF60B60B3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668000" cy="342900"/>
          </a:xfrm>
          <a:prstGeom prst="rect">
            <a:avLst/>
          </a:prstGeom>
          <a:solidFill>
            <a:srgbClr val="E8F2DF"/>
          </a:solidFill>
          <a:ln w="0">
            <a:solidFill>
              <a:srgbClr val="E8F2D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C11A242-911F-4A40-B113-12383BE5EB34}"/>
              </a:ext>
            </a:extLst>
          </p:cNvPr>
          <p:cNvSpPr>
            <a:spLocks noGrp="1"/>
          </p:cNvSpPr>
          <p:nvPr/>
        </p:nvSpPr>
        <p:spPr>
          <a:xfrm>
            <a:off x="876300" y="582930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这些场景说明项目不仅适合做比赛展示，也具备进一步落地成真实校园服务工具的空间。</a:t>
            </a:r>
          </a:p>
        </p:txBody>
      </p:sp>
    </p:spTree>
    <p:extLst>
      <p:ext uri="{BB962C8B-B14F-4D97-AF65-F5344CB8AC3E}">
        <p14:creationId xmlns:p14="http://schemas.microsoft.com/office/powerpoint/2010/main" val="1764365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EF6D5F4E-B15F-468F-8DD7-6E335DE656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0">
            <a:solidFill>
              <a:srgbClr val="FFFDF7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C7606A-EF49-463F-AFC7-19BB9D86CE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7E735E-C84A-413F-9E9B-957CB1F5366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Product 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6EF692-D6D1-43A8-831E-92B9FB6176E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rPr>
              <a:t>产品设计与业务闭环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AC7EA0-3FFA-47A3-84E9-89A70AFE10A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04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益小助 | 基于 AI 的校园公益资源智能匹配小程序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5D3664-1BDF-43D8-A556-DD1A07C0F9E0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7B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F0A7FB-AF58-468D-AAEE-37E173F8B4D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平台以“发布、审核、匹配、对接、评价、信誉沉淀”为主线，把原本零散的互助信息流程化、可管理化。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E8A0F8-E907-44B0-BD08-507E1E8877EF}"/>
              </a:ext>
            </a:extLst>
          </p:cNvPr>
          <p:cNvSpPr>
            <a:spLocks noGrp="1"/>
          </p:cNvSpPr>
          <p:nvPr/>
        </p:nvSpPr>
        <p:spPr>
          <a:xfrm>
            <a:off x="298450" y="2343150"/>
            <a:ext cx="19431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727EC6-4EEF-4A17-AB6C-36762FE06485}"/>
              </a:ext>
            </a:extLst>
          </p:cNvPr>
          <p:cNvSpPr>
            <a:spLocks noGrp="1"/>
          </p:cNvSpPr>
          <p:nvPr/>
        </p:nvSpPr>
        <p:spPr>
          <a:xfrm>
            <a:off x="469900" y="249555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发布信息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A19F14-94D5-4BDD-B8AA-6C78B1A71412}"/>
              </a:ext>
            </a:extLst>
          </p:cNvPr>
          <p:cNvSpPr>
            <a:spLocks noGrp="1"/>
          </p:cNvSpPr>
          <p:nvPr/>
        </p:nvSpPr>
        <p:spPr>
          <a:xfrm>
            <a:off x="469900" y="280035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资源/需求表单</a:t>
            </a:r>
          </a:p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图片上传</a:t>
            </a:r>
          </a:p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用户评估价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B024C8-9185-4C47-A708-19FE46208CBF}"/>
              </a:ext>
            </a:extLst>
          </p:cNvPr>
          <p:cNvSpPr>
            <a:spLocks noGrp="1"/>
          </p:cNvSpPr>
          <p:nvPr/>
        </p:nvSpPr>
        <p:spPr>
          <a:xfrm>
            <a:off x="2133600" y="2838450"/>
            <a:ext cx="609600" cy="3810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2" name="箭头: V 形 11">
            <a:extLst>
              <a:ext uri="{FF2B5EF4-FFF2-40B4-BE49-F238E27FC236}">
                <a16:creationId xmlns:a16="http://schemas.microsoft.com/office/drawing/2014/main" id="{B54EA087-B169-4D49-8FAE-893626E49242}"/>
              </a:ext>
            </a:extLst>
          </p:cNvPr>
          <p:cNvSpPr>
            <a:spLocks noGrp="1"/>
          </p:cNvSpPr>
          <p:nvPr/>
        </p:nvSpPr>
        <p:spPr>
          <a:xfrm>
            <a:off x="2628900" y="2781300"/>
            <a:ext cx="152400" cy="152400"/>
          </a:xfrm>
          <a:prstGeom prst="chevron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70B151-80D5-4D05-8FBF-E799701DAE1A}"/>
              </a:ext>
            </a:extLst>
          </p:cNvPr>
          <p:cNvSpPr>
            <a:spLocks noGrp="1"/>
          </p:cNvSpPr>
          <p:nvPr/>
        </p:nvSpPr>
        <p:spPr>
          <a:xfrm>
            <a:off x="2743200" y="2324100"/>
            <a:ext cx="1943100" cy="1066800"/>
          </a:xfrm>
          <a:prstGeom prst="rect">
            <a:avLst/>
          </a:prstGeom>
          <a:solidFill>
            <a:srgbClr val="F9FBF7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E27DC5-EF42-4384-B304-9066B280F6AD}"/>
              </a:ext>
            </a:extLst>
          </p:cNvPr>
          <p:cNvSpPr>
            <a:spLocks noGrp="1"/>
          </p:cNvSpPr>
          <p:nvPr/>
        </p:nvSpPr>
        <p:spPr>
          <a:xfrm>
            <a:off x="2914650" y="247650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AI 辅助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7F4729-F83C-472A-A15E-4F0008E5DBC3}"/>
              </a:ext>
            </a:extLst>
          </p:cNvPr>
          <p:cNvSpPr>
            <a:spLocks noGrp="1"/>
          </p:cNvSpPr>
          <p:nvPr/>
        </p:nvSpPr>
        <p:spPr>
          <a:xfrm>
            <a:off x="2914650" y="278130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分类识别</a:t>
            </a:r>
          </a:p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标签提取</a:t>
            </a:r>
          </a:p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文案优化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98DD18-1719-481E-8AB7-06C2018D7F52}"/>
              </a:ext>
            </a:extLst>
          </p:cNvPr>
          <p:cNvSpPr>
            <a:spLocks noGrp="1"/>
          </p:cNvSpPr>
          <p:nvPr/>
        </p:nvSpPr>
        <p:spPr>
          <a:xfrm>
            <a:off x="4572000" y="2838450"/>
            <a:ext cx="609600" cy="3810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7" name="箭头: V 形 16">
            <a:extLst>
              <a:ext uri="{FF2B5EF4-FFF2-40B4-BE49-F238E27FC236}">
                <a16:creationId xmlns:a16="http://schemas.microsoft.com/office/drawing/2014/main" id="{1ECBBAC6-6304-4FA8-9E3D-896020FE8F77}"/>
              </a:ext>
            </a:extLst>
          </p:cNvPr>
          <p:cNvSpPr>
            <a:spLocks noGrp="1"/>
          </p:cNvSpPr>
          <p:nvPr/>
        </p:nvSpPr>
        <p:spPr>
          <a:xfrm>
            <a:off x="5067300" y="2781300"/>
            <a:ext cx="152400" cy="152400"/>
          </a:xfrm>
          <a:prstGeom prst="chevron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C51371-9487-456C-80F8-B63404443965}"/>
              </a:ext>
            </a:extLst>
          </p:cNvPr>
          <p:cNvSpPr>
            <a:spLocks noGrp="1"/>
          </p:cNvSpPr>
          <p:nvPr/>
        </p:nvSpPr>
        <p:spPr>
          <a:xfrm>
            <a:off x="5181600" y="2324100"/>
            <a:ext cx="19431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30BCFD-C5AA-4354-B8AC-8269C66A6659}"/>
              </a:ext>
            </a:extLst>
          </p:cNvPr>
          <p:cNvSpPr>
            <a:spLocks noGrp="1"/>
          </p:cNvSpPr>
          <p:nvPr/>
        </p:nvSpPr>
        <p:spPr>
          <a:xfrm>
            <a:off x="5353050" y="247650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管理员审核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2AD3CC-E9E2-4F37-9301-D8C9FD521814}"/>
              </a:ext>
            </a:extLst>
          </p:cNvPr>
          <p:cNvSpPr>
            <a:spLocks noGrp="1"/>
          </p:cNvSpPr>
          <p:nvPr/>
        </p:nvSpPr>
        <p:spPr>
          <a:xfrm>
            <a:off x="5353050" y="278130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过滤广告与低质量内容</a:t>
            </a:r>
          </a:p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保证平台可信度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59723E-5658-457E-8E37-73F262160205}"/>
              </a:ext>
            </a:extLst>
          </p:cNvPr>
          <p:cNvSpPr>
            <a:spLocks noGrp="1"/>
          </p:cNvSpPr>
          <p:nvPr/>
        </p:nvSpPr>
        <p:spPr>
          <a:xfrm>
            <a:off x="7200900" y="2838450"/>
            <a:ext cx="609600" cy="3810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22" name="箭头: V 形 21">
            <a:extLst>
              <a:ext uri="{FF2B5EF4-FFF2-40B4-BE49-F238E27FC236}">
                <a16:creationId xmlns:a16="http://schemas.microsoft.com/office/drawing/2014/main" id="{DB861BAB-B135-4FF0-947A-17625429B301}"/>
              </a:ext>
            </a:extLst>
          </p:cNvPr>
          <p:cNvSpPr>
            <a:spLocks noGrp="1"/>
          </p:cNvSpPr>
          <p:nvPr/>
        </p:nvSpPr>
        <p:spPr>
          <a:xfrm>
            <a:off x="7696200" y="2781300"/>
            <a:ext cx="152400" cy="152400"/>
          </a:xfrm>
          <a:prstGeom prst="chevron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6DE2496-BE37-4F48-9103-C7A9120DDE46}"/>
              </a:ext>
            </a:extLst>
          </p:cNvPr>
          <p:cNvSpPr>
            <a:spLocks noGrp="1"/>
          </p:cNvSpPr>
          <p:nvPr/>
        </p:nvSpPr>
        <p:spPr>
          <a:xfrm>
            <a:off x="7810500" y="2324100"/>
            <a:ext cx="1943100" cy="1066800"/>
          </a:xfrm>
          <a:prstGeom prst="rect">
            <a:avLst/>
          </a:prstGeom>
          <a:solidFill>
            <a:srgbClr val="F9FBF7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DA4BC99-438D-4D28-AF27-E45BC4639102}"/>
              </a:ext>
            </a:extLst>
          </p:cNvPr>
          <p:cNvSpPr>
            <a:spLocks noGrp="1"/>
          </p:cNvSpPr>
          <p:nvPr/>
        </p:nvSpPr>
        <p:spPr>
          <a:xfrm>
            <a:off x="7981950" y="247650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智能匹配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36AE1A1-65EE-4815-BA35-627B14502328}"/>
              </a:ext>
            </a:extLst>
          </p:cNvPr>
          <p:cNvSpPr>
            <a:spLocks noGrp="1"/>
          </p:cNvSpPr>
          <p:nvPr/>
        </p:nvSpPr>
        <p:spPr>
          <a:xfrm>
            <a:off x="7981950" y="278130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匹配分数</a:t>
            </a:r>
          </a:p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推荐原因</a:t>
            </a:r>
          </a:p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状态推进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72D79F-30D8-4E21-A3B0-DB0FF6429170}"/>
              </a:ext>
            </a:extLst>
          </p:cNvPr>
          <p:cNvSpPr>
            <a:spLocks noGrp="1"/>
          </p:cNvSpPr>
          <p:nvPr/>
        </p:nvSpPr>
        <p:spPr>
          <a:xfrm>
            <a:off x="9601200" y="2838450"/>
            <a:ext cx="419100" cy="3810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27" name="箭头: V 形 26">
            <a:extLst>
              <a:ext uri="{FF2B5EF4-FFF2-40B4-BE49-F238E27FC236}">
                <a16:creationId xmlns:a16="http://schemas.microsoft.com/office/drawing/2014/main" id="{F2BFBBF1-A189-43DA-B562-4729DF94411E}"/>
              </a:ext>
            </a:extLst>
          </p:cNvPr>
          <p:cNvSpPr>
            <a:spLocks noGrp="1"/>
          </p:cNvSpPr>
          <p:nvPr/>
        </p:nvSpPr>
        <p:spPr>
          <a:xfrm>
            <a:off x="9906000" y="2781300"/>
            <a:ext cx="152400" cy="152400"/>
          </a:xfrm>
          <a:prstGeom prst="chevron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28E07D1-1FB1-4D39-AF8D-B92CB7D4F054}"/>
              </a:ext>
            </a:extLst>
          </p:cNvPr>
          <p:cNvSpPr>
            <a:spLocks noGrp="1"/>
          </p:cNvSpPr>
          <p:nvPr/>
        </p:nvSpPr>
        <p:spPr>
          <a:xfrm>
            <a:off x="10020300" y="2324100"/>
            <a:ext cx="19431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47685F6-77DD-4BDC-901F-F89D12B74B3B}"/>
              </a:ext>
            </a:extLst>
          </p:cNvPr>
          <p:cNvSpPr>
            <a:spLocks noGrp="1"/>
          </p:cNvSpPr>
          <p:nvPr/>
        </p:nvSpPr>
        <p:spPr>
          <a:xfrm>
            <a:off x="10191750" y="247650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完成评价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782BC-8551-498C-BF8F-06691A599865}"/>
              </a:ext>
            </a:extLst>
          </p:cNvPr>
          <p:cNvSpPr>
            <a:spLocks noGrp="1"/>
          </p:cNvSpPr>
          <p:nvPr/>
        </p:nvSpPr>
        <p:spPr>
          <a:xfrm>
            <a:off x="10191750" y="278130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星级评价</a:t>
            </a:r>
          </a:p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文字评价</a:t>
            </a:r>
          </a:p>
          <a:p>
            <a:pPr algn="l">
              <a:defRPr sz="975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信誉积分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9DF0B23-9CA6-4433-9BEB-DB466D180BAB}"/>
              </a:ext>
            </a:extLst>
          </p:cNvPr>
          <p:cNvSpPr>
            <a:spLocks noGrp="1"/>
          </p:cNvSpPr>
          <p:nvPr/>
        </p:nvSpPr>
        <p:spPr>
          <a:xfrm>
            <a:off x="565150" y="4000500"/>
            <a:ext cx="971550" cy="266700"/>
          </a:xfrm>
          <a:prstGeom prst="rect">
            <a:avLst/>
          </a:prstGeom>
          <a:solidFill>
            <a:srgbClr val="E8F2DF"/>
          </a:solidFill>
          <a:ln w="0">
            <a:solidFill>
              <a:srgbClr val="E8F2DF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1DD2DBE-3E0D-48B8-8CF7-A0EB07C997FE}"/>
              </a:ext>
            </a:extLst>
          </p:cNvPr>
          <p:cNvSpPr>
            <a:spLocks noGrp="1"/>
          </p:cNvSpPr>
          <p:nvPr/>
        </p:nvSpPr>
        <p:spPr>
          <a:xfrm>
            <a:off x="565150" y="4038600"/>
            <a:ext cx="971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248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4838"/>
                </a:solidFill>
                <a:latin typeface="Aptos"/>
                <a:ea typeface="Aptos"/>
                <a:cs typeface="Aptos"/>
              </a:rPr>
              <a:t>图片上传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AE64772-08DE-4071-8A4A-FA69096BEAF4}"/>
              </a:ext>
            </a:extLst>
          </p:cNvPr>
          <p:cNvSpPr>
            <a:spLocks noGrp="1"/>
          </p:cNvSpPr>
          <p:nvPr/>
        </p:nvSpPr>
        <p:spPr>
          <a:xfrm>
            <a:off x="1670050" y="4000500"/>
            <a:ext cx="1123950" cy="266700"/>
          </a:xfrm>
          <a:prstGeom prst="rect">
            <a:avLst/>
          </a:prstGeom>
          <a:solidFill>
            <a:srgbClr val="E8F2DF"/>
          </a:solidFill>
          <a:ln w="0">
            <a:solidFill>
              <a:srgbClr val="E8F2DF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DFB94E-6861-4D0E-9700-F1F8E934828D}"/>
              </a:ext>
            </a:extLst>
          </p:cNvPr>
          <p:cNvSpPr>
            <a:spLocks noGrp="1"/>
          </p:cNvSpPr>
          <p:nvPr/>
        </p:nvSpPr>
        <p:spPr>
          <a:xfrm>
            <a:off x="1670050" y="40386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24838"/>
                </a:solidFill>
                <a:latin typeface="Aptos"/>
                <a:ea typeface="Aptos"/>
                <a:cs typeface="Aptos"/>
              </a:defRPr>
            </a:pPr>
            <a:r>
              <a:rPr sz="900" b="1" dirty="0" err="1">
                <a:solidFill>
                  <a:srgbClr val="224838"/>
                </a:solidFill>
                <a:latin typeface="Aptos"/>
                <a:ea typeface="Aptos"/>
                <a:cs typeface="Aptos"/>
              </a:rPr>
              <a:t>用户评估价</a:t>
            </a:r>
            <a:endParaRPr sz="900" b="1" dirty="0">
              <a:solidFill>
                <a:srgbClr val="2248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7B8C64D-F16F-4989-908B-B97CCAA597EF}"/>
              </a:ext>
            </a:extLst>
          </p:cNvPr>
          <p:cNvSpPr>
            <a:spLocks noGrp="1"/>
          </p:cNvSpPr>
          <p:nvPr/>
        </p:nvSpPr>
        <p:spPr>
          <a:xfrm>
            <a:off x="3257550" y="3981450"/>
            <a:ext cx="895350" cy="266700"/>
          </a:xfrm>
          <a:prstGeom prst="rect">
            <a:avLst/>
          </a:prstGeom>
          <a:solidFill>
            <a:srgbClr val="E8F2DF"/>
          </a:solidFill>
          <a:ln w="0">
            <a:solidFill>
              <a:srgbClr val="E8F2DF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F15A843-C753-4B44-BB1A-2248E62DC5AA}"/>
              </a:ext>
            </a:extLst>
          </p:cNvPr>
          <p:cNvSpPr>
            <a:spLocks noGrp="1"/>
          </p:cNvSpPr>
          <p:nvPr/>
        </p:nvSpPr>
        <p:spPr>
          <a:xfrm>
            <a:off x="3257550" y="40195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248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4838"/>
                </a:solidFill>
                <a:latin typeface="Aptos"/>
                <a:ea typeface="Aptos"/>
                <a:cs typeface="Aptos"/>
              </a:rPr>
              <a:t>AI 标签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265EC70-5E04-492B-9174-5D432092B18E}"/>
              </a:ext>
            </a:extLst>
          </p:cNvPr>
          <p:cNvSpPr>
            <a:spLocks noGrp="1"/>
          </p:cNvSpPr>
          <p:nvPr/>
        </p:nvSpPr>
        <p:spPr>
          <a:xfrm>
            <a:off x="5695950" y="3981450"/>
            <a:ext cx="895350" cy="266700"/>
          </a:xfrm>
          <a:prstGeom prst="rect">
            <a:avLst/>
          </a:prstGeom>
          <a:solidFill>
            <a:srgbClr val="E8F2DF"/>
          </a:solidFill>
          <a:ln w="0">
            <a:solidFill>
              <a:srgbClr val="E8F2DF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6BC7B5B-6541-4608-92A9-16D26DD1B166}"/>
              </a:ext>
            </a:extLst>
          </p:cNvPr>
          <p:cNvSpPr>
            <a:spLocks noGrp="1"/>
          </p:cNvSpPr>
          <p:nvPr/>
        </p:nvSpPr>
        <p:spPr>
          <a:xfrm>
            <a:off x="5695950" y="40195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248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4838"/>
                </a:solidFill>
                <a:latin typeface="Aptos"/>
                <a:ea typeface="Aptos"/>
                <a:cs typeface="Aptos"/>
              </a:rPr>
              <a:t>风险识别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51F2ACC-EC86-416D-9E68-E5AD432D707C}"/>
              </a:ext>
            </a:extLst>
          </p:cNvPr>
          <p:cNvSpPr>
            <a:spLocks noGrp="1"/>
          </p:cNvSpPr>
          <p:nvPr/>
        </p:nvSpPr>
        <p:spPr>
          <a:xfrm>
            <a:off x="8324850" y="3981450"/>
            <a:ext cx="895350" cy="266700"/>
          </a:xfrm>
          <a:prstGeom prst="rect">
            <a:avLst/>
          </a:prstGeom>
          <a:solidFill>
            <a:srgbClr val="E8F2DF"/>
          </a:solidFill>
          <a:ln w="0">
            <a:solidFill>
              <a:srgbClr val="E8F2D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F14DF95-A278-481E-AA64-B4035B66C8DB}"/>
              </a:ext>
            </a:extLst>
          </p:cNvPr>
          <p:cNvSpPr>
            <a:spLocks noGrp="1"/>
          </p:cNvSpPr>
          <p:nvPr/>
        </p:nvSpPr>
        <p:spPr>
          <a:xfrm>
            <a:off x="8324850" y="40195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248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4838"/>
                </a:solidFill>
                <a:latin typeface="Aptos"/>
                <a:ea typeface="Aptos"/>
                <a:cs typeface="Aptos"/>
              </a:rPr>
              <a:t>匹配原因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389DAEA-E06F-49FB-8148-1CBA6AB06C98}"/>
              </a:ext>
            </a:extLst>
          </p:cNvPr>
          <p:cNvSpPr>
            <a:spLocks noGrp="1"/>
          </p:cNvSpPr>
          <p:nvPr/>
        </p:nvSpPr>
        <p:spPr>
          <a:xfrm>
            <a:off x="10191750" y="3981450"/>
            <a:ext cx="895350" cy="266700"/>
          </a:xfrm>
          <a:prstGeom prst="rect">
            <a:avLst/>
          </a:prstGeom>
          <a:solidFill>
            <a:srgbClr val="E8F2DF"/>
          </a:solidFill>
          <a:ln w="0">
            <a:solidFill>
              <a:srgbClr val="E8F2DF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C86B10D-6728-4C69-ABFA-AA0C9BFD1B0A}"/>
              </a:ext>
            </a:extLst>
          </p:cNvPr>
          <p:cNvSpPr>
            <a:spLocks noGrp="1"/>
          </p:cNvSpPr>
          <p:nvPr/>
        </p:nvSpPr>
        <p:spPr>
          <a:xfrm>
            <a:off x="10191750" y="40195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248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4838"/>
                </a:solidFill>
                <a:latin typeface="Aptos"/>
                <a:ea typeface="Aptos"/>
                <a:cs typeface="Aptos"/>
              </a:rPr>
              <a:t>信誉积分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36D2817-33B3-40DF-9564-A72DD4AC6DBF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668000" cy="1123950"/>
          </a:xfrm>
          <a:prstGeom prst="rect">
            <a:avLst/>
          </a:prstGeom>
          <a:solidFill>
            <a:srgbClr val="E8F2D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087D86E-0AC0-47B0-83D7-6F1C5008EFD0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48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4838"/>
                </a:solidFill>
                <a:latin typeface="Aptos"/>
                <a:ea typeface="Aptos"/>
                <a:cs typeface="Aptos"/>
              </a:rPr>
              <a:t>设计重点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8D8B441-B0D6-41A8-974C-07FA2BC08AF9}"/>
              </a:ext>
            </a:extLst>
          </p:cNvPr>
          <p:cNvSpPr>
            <a:spLocks noGrp="1"/>
          </p:cNvSpPr>
          <p:nvPr/>
        </p:nvSpPr>
        <p:spPr>
          <a:xfrm>
            <a:off x="914400" y="5238750"/>
            <a:ext cx="9982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产品设计并不追求复杂功能堆叠，而是优先保证业务闭环清晰。通过把图片、评估价、AI 辅助、审核治理和信誉机制串成一个完整路径，项目既更适合比赛展示，也更具后续落地空间。</a:t>
            </a:r>
          </a:p>
        </p:txBody>
      </p:sp>
    </p:spTree>
    <p:extLst>
      <p:ext uri="{BB962C8B-B14F-4D97-AF65-F5344CB8AC3E}">
        <p14:creationId xmlns:p14="http://schemas.microsoft.com/office/powerpoint/2010/main" val="1453699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FA112D3D-256F-49CA-905E-6B22E31EA4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0">
            <a:solidFill>
              <a:srgbClr val="FFFDF7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4412D2-D580-4A81-B096-44665A5516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2A2226-9BB6-492A-816B-7055C2E9953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UI Showcase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D03B9D-7D13-4395-9434-9F3D51A994A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rPr>
              <a:t>小程序界面展示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1B8AB1-906B-46A1-A312-CFCD9A83B60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04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益小助 | 基于 AI 的校园公益资源智能匹配小程序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1EC216-9066-4AE4-B260-170E9ECEA808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7B7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35148D0-3D6D-4203-8F1D-A1386C97113A}"/>
              </a:ext>
            </a:extLst>
          </p:cNvPr>
          <p:cNvSpPr>
            <a:spLocks noGrp="1"/>
          </p:cNvSpPr>
          <p:nvPr/>
        </p:nvSpPr>
        <p:spPr>
          <a:xfrm>
            <a:off x="10066867" y="1546225"/>
            <a:ext cx="17526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A92B1D5-7786-4468-8D60-C79B4B039E2A}"/>
              </a:ext>
            </a:extLst>
          </p:cNvPr>
          <p:cNvSpPr>
            <a:spLocks noGrp="1"/>
          </p:cNvSpPr>
          <p:nvPr/>
        </p:nvSpPr>
        <p:spPr>
          <a:xfrm>
            <a:off x="10295467" y="1812925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界面特征总结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4E0F8428-46AA-4707-9992-5EDA51315F45}"/>
              </a:ext>
            </a:extLst>
          </p:cNvPr>
          <p:cNvSpPr>
            <a:spLocks noGrp="1"/>
          </p:cNvSpPr>
          <p:nvPr/>
        </p:nvSpPr>
        <p:spPr>
          <a:xfrm>
            <a:off x="10295467" y="2232025"/>
            <a:ext cx="45719" cy="53239"/>
          </a:xfrm>
          <a:prstGeom prst="ellipse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E1006D8-6BBE-428C-AD70-ED339FF596D8}"/>
              </a:ext>
            </a:extLst>
          </p:cNvPr>
          <p:cNvSpPr>
            <a:spLocks noGrp="1"/>
          </p:cNvSpPr>
          <p:nvPr/>
        </p:nvSpPr>
        <p:spPr>
          <a:xfrm>
            <a:off x="10447867" y="2174875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整体视觉采用浅米白背景 + 校园绿色主色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D546FED8-E1D9-4A7C-8D93-4B3D5246ACBA}"/>
              </a:ext>
            </a:extLst>
          </p:cNvPr>
          <p:cNvSpPr>
            <a:spLocks noGrp="1"/>
          </p:cNvSpPr>
          <p:nvPr/>
        </p:nvSpPr>
        <p:spPr>
          <a:xfrm>
            <a:off x="10295467" y="2784475"/>
            <a:ext cx="45719" cy="53239"/>
          </a:xfrm>
          <a:prstGeom prst="ellipse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9468555-6557-431F-9D94-C59E04B7D51B}"/>
              </a:ext>
            </a:extLst>
          </p:cNvPr>
          <p:cNvSpPr>
            <a:spLocks noGrp="1"/>
          </p:cNvSpPr>
          <p:nvPr/>
        </p:nvSpPr>
        <p:spPr>
          <a:xfrm>
            <a:off x="10447867" y="2727325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卡片化布局清晰，适合移动端信息浏览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58FAF7E3-E582-4CD2-9275-672EAFDCEAF8}"/>
              </a:ext>
            </a:extLst>
          </p:cNvPr>
          <p:cNvSpPr>
            <a:spLocks noGrp="1"/>
          </p:cNvSpPr>
          <p:nvPr/>
        </p:nvSpPr>
        <p:spPr>
          <a:xfrm>
            <a:off x="10295467" y="3336925"/>
            <a:ext cx="45719" cy="53239"/>
          </a:xfrm>
          <a:prstGeom prst="ellipse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36D5989-25A5-497F-B457-61FCD75CF1F5}"/>
              </a:ext>
            </a:extLst>
          </p:cNvPr>
          <p:cNvSpPr>
            <a:spLocks noGrp="1"/>
          </p:cNvSpPr>
          <p:nvPr/>
        </p:nvSpPr>
        <p:spPr>
          <a:xfrm>
            <a:off x="10447867" y="3279775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发布页强调图片上传和低门槛录入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6FBB182E-32A9-4307-97F7-2BF8AAFB7EFC}"/>
              </a:ext>
            </a:extLst>
          </p:cNvPr>
          <p:cNvSpPr>
            <a:spLocks noGrp="1"/>
          </p:cNvSpPr>
          <p:nvPr/>
        </p:nvSpPr>
        <p:spPr>
          <a:xfrm>
            <a:off x="10295467" y="3889375"/>
            <a:ext cx="45719" cy="53239"/>
          </a:xfrm>
          <a:prstGeom prst="ellipse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7614B5D-3B50-42C6-8BE3-570C683871F1}"/>
              </a:ext>
            </a:extLst>
          </p:cNvPr>
          <p:cNvSpPr>
            <a:spLocks noGrp="1"/>
          </p:cNvSpPr>
          <p:nvPr/>
        </p:nvSpPr>
        <p:spPr>
          <a:xfrm>
            <a:off x="10447867" y="3832225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“我的”页面集中展示匹配记录与信誉积分</a:t>
            </a: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03302558-77DF-4949-BCFA-944B9175B84A}"/>
              </a:ext>
            </a:extLst>
          </p:cNvPr>
          <p:cNvSpPr>
            <a:spLocks noGrp="1"/>
          </p:cNvSpPr>
          <p:nvPr/>
        </p:nvSpPr>
        <p:spPr>
          <a:xfrm>
            <a:off x="10295467" y="4441825"/>
            <a:ext cx="45719" cy="53239"/>
          </a:xfrm>
          <a:prstGeom prst="ellipse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5423DB3-CAAE-4F67-B95A-170FC458F6DF}"/>
              </a:ext>
            </a:extLst>
          </p:cNvPr>
          <p:cNvSpPr>
            <a:spLocks noGrp="1"/>
          </p:cNvSpPr>
          <p:nvPr/>
        </p:nvSpPr>
        <p:spPr>
          <a:xfrm>
            <a:off x="10447867" y="4384675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界面风格与项目“公益、轻量、可信”定位一致</a:t>
            </a: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3C196EDF-1668-E027-0A30-B47D71266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51" y="1533525"/>
            <a:ext cx="1743325" cy="4000500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052B402F-A0C1-E1B8-E970-BFBAAB933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257" y="1546225"/>
            <a:ext cx="1743325" cy="4000500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FD53146B-9DE7-DB4A-E2EB-E2E1E4858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263" y="1546225"/>
            <a:ext cx="1743325" cy="400050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07BB31F8-4916-7EEF-00DD-CAF6422E9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0269" y="1546225"/>
            <a:ext cx="1743325" cy="400050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4DB682D9-CADC-C5D1-57C2-EA4D506D53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275" y="1546225"/>
            <a:ext cx="1736623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29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58C55F23-F806-417D-A106-AE71BE7169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0">
            <a:solidFill>
              <a:srgbClr val="FFFDF7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F504A4-4E62-4243-B6C3-C0A21220F3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1A4C7C-29C6-47AC-8E51-C3448B9CE85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Highlights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5B4DA9-6C35-4668-A504-E8EDD37132B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rPr>
              <a:t>功能亮点与竞赛差异化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FE8573-0AA3-4CA4-A50B-0ED82BF4C4E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04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益小助 | 基于 AI 的校园公益资源智能匹配小程序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6C550C-D7E4-4E71-BDAE-FA3120CB38D1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7B72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C5D2B3-C7E0-414A-BB59-410B752F8B13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2385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F9F5E0-F647-4E09-BB13-5A13BF5C4DD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144780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AD31F2-EFA5-4950-B92B-94A74AD042E3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图片上传与展示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75F65D-2F76-4BA7-A940-BE1F6C3A6042}"/>
              </a:ext>
            </a:extLst>
          </p:cNvPr>
          <p:cNvSpPr>
            <a:spLocks noGrp="1"/>
          </p:cNvSpPr>
          <p:nvPr/>
        </p:nvSpPr>
        <p:spPr>
          <a:xfrm>
            <a:off x="895350" y="2228850"/>
            <a:ext cx="29146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发布页支持最多 3 张图片选择、预览与删除，详情页支持图片回显与大图预览，增强资源信息真实性。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451185-3057-482B-B62F-20BAB24E784D}"/>
              </a:ext>
            </a:extLst>
          </p:cNvPr>
          <p:cNvSpPr>
            <a:spLocks noGrp="1"/>
          </p:cNvSpPr>
          <p:nvPr/>
        </p:nvSpPr>
        <p:spPr>
          <a:xfrm>
            <a:off x="4476750" y="1714500"/>
            <a:ext cx="3238500" cy="1447800"/>
          </a:xfrm>
          <a:prstGeom prst="rect">
            <a:avLst/>
          </a:prstGeom>
          <a:solidFill>
            <a:srgbClr val="F9FBF7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90965-2E21-4B59-8BAC-76A0E41494B3}"/>
              </a:ext>
            </a:extLst>
          </p:cNvPr>
          <p:cNvSpPr>
            <a:spLocks noGrp="1"/>
          </p:cNvSpPr>
          <p:nvPr/>
        </p:nvSpPr>
        <p:spPr>
          <a:xfrm>
            <a:off x="4476750" y="1714500"/>
            <a:ext cx="76200" cy="14478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59C5BD-EE08-4DC4-88A2-3400C1525B47}"/>
              </a:ext>
            </a:extLst>
          </p:cNvPr>
          <p:cNvSpPr>
            <a:spLocks noGrp="1"/>
          </p:cNvSpPr>
          <p:nvPr/>
        </p:nvSpPr>
        <p:spPr>
          <a:xfrm>
            <a:off x="4686300" y="188595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用户评估价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27ACA1-A46B-4DB8-9290-1506212CF6EF}"/>
              </a:ext>
            </a:extLst>
          </p:cNvPr>
          <p:cNvSpPr>
            <a:spLocks noGrp="1"/>
          </p:cNvSpPr>
          <p:nvPr/>
        </p:nvSpPr>
        <p:spPr>
          <a:xfrm>
            <a:off x="4686300" y="2228850"/>
            <a:ext cx="29146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为资源或需求提供价值参考字段，帮助双方更高效理解资源情况，降低沟通成本。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60497-8805-4125-BFD1-D7E06037DF3B}"/>
              </a:ext>
            </a:extLst>
          </p:cNvPr>
          <p:cNvSpPr>
            <a:spLocks noGrp="1"/>
          </p:cNvSpPr>
          <p:nvPr/>
        </p:nvSpPr>
        <p:spPr>
          <a:xfrm>
            <a:off x="8267700" y="1714500"/>
            <a:ext cx="32385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A77EEB-FE56-4563-8C21-FF252610DC24}"/>
              </a:ext>
            </a:extLst>
          </p:cNvPr>
          <p:cNvSpPr>
            <a:spLocks noGrp="1"/>
          </p:cNvSpPr>
          <p:nvPr/>
        </p:nvSpPr>
        <p:spPr>
          <a:xfrm>
            <a:off x="8267700" y="1714500"/>
            <a:ext cx="76200" cy="144780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7FD8BC-879C-440D-8A54-0CA6E0519EE8}"/>
              </a:ext>
            </a:extLst>
          </p:cNvPr>
          <p:cNvSpPr>
            <a:spLocks noGrp="1"/>
          </p:cNvSpPr>
          <p:nvPr/>
        </p:nvSpPr>
        <p:spPr>
          <a:xfrm>
            <a:off x="8477250" y="188595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AI 全流程赋能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C50396-CEC2-4AD6-9E26-D4E5CF408D56}"/>
              </a:ext>
            </a:extLst>
          </p:cNvPr>
          <p:cNvSpPr>
            <a:spLocks noGrp="1"/>
          </p:cNvSpPr>
          <p:nvPr/>
        </p:nvSpPr>
        <p:spPr>
          <a:xfrm>
            <a:off x="8477250" y="2228850"/>
            <a:ext cx="29146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AI 不只是问答展示，而是直接用于分类、标签、文案优化、风险识别和匹配解释。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9361CE5-0E07-4E28-9895-44123A0358F5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51435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FC4665-5B2B-4798-B13F-6521BB352328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76200" cy="1600200"/>
          </a:xfrm>
          <a:prstGeom prst="rect">
            <a:avLst/>
          </a:prstGeom>
          <a:solidFill>
            <a:srgbClr val="224838"/>
          </a:solidFill>
          <a:ln w="0">
            <a:solidFill>
              <a:srgbClr val="22483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2D5442C-5AD2-48E6-907B-B82CB8A5E0B9}"/>
              </a:ext>
            </a:extLst>
          </p:cNvPr>
          <p:cNvSpPr>
            <a:spLocks noGrp="1"/>
          </p:cNvSpPr>
          <p:nvPr/>
        </p:nvSpPr>
        <p:spPr>
          <a:xfrm>
            <a:off x="895350" y="3733800"/>
            <a:ext cx="481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评价与信誉积分机制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8313AD-3E07-4F0F-8E4E-744F9EF96573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48196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完成对接后支持星级评价、文字评价和标签评价，并根据结果更新信誉积分。平台从单次信息发布升级为可持续信用沉淀系统。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26E00E-F902-4C8F-9AB1-EE1446163073}"/>
              </a:ext>
            </a:extLst>
          </p:cNvPr>
          <p:cNvSpPr>
            <a:spLocks noGrp="1"/>
          </p:cNvSpPr>
          <p:nvPr/>
        </p:nvSpPr>
        <p:spPr>
          <a:xfrm>
            <a:off x="6362700" y="3562350"/>
            <a:ext cx="51435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07CFCB3-78E0-41A1-B004-6DB6CDA8B0BB}"/>
              </a:ext>
            </a:extLst>
          </p:cNvPr>
          <p:cNvSpPr>
            <a:spLocks noGrp="1"/>
          </p:cNvSpPr>
          <p:nvPr/>
        </p:nvSpPr>
        <p:spPr>
          <a:xfrm>
            <a:off x="6362700" y="3562350"/>
            <a:ext cx="76200" cy="16002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6BF39A3-5CCE-473C-BF71-20E028441FED}"/>
              </a:ext>
            </a:extLst>
          </p:cNvPr>
          <p:cNvSpPr>
            <a:spLocks noGrp="1"/>
          </p:cNvSpPr>
          <p:nvPr/>
        </p:nvSpPr>
        <p:spPr>
          <a:xfrm>
            <a:off x="6572250" y="3733800"/>
            <a:ext cx="481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区别于普通发布平台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3D73C7-5B07-44FE-A2C3-7411C2B12528}"/>
              </a:ext>
            </a:extLst>
          </p:cNvPr>
          <p:cNvSpPr>
            <a:spLocks noGrp="1"/>
          </p:cNvSpPr>
          <p:nvPr/>
        </p:nvSpPr>
        <p:spPr>
          <a:xfrm>
            <a:off x="6572250" y="4076700"/>
            <a:ext cx="48196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益小助解决的不只是“信息能否发出来”，更重点解决“信息是否清晰、是否可信、是否容易匹配、是否能形成对接闭环”。这也是项目在比赛中的核心差异化。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DBFAFE-274F-4F73-A31A-4A62418823E2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项目亮点总结：把真实校园互助需求、移动端轻量体验、可感知的 UI 表现和 AI 实用能力结合成了一个可讲、可演示、可扩展的完整故事。</a:t>
            </a:r>
          </a:p>
        </p:txBody>
      </p:sp>
    </p:spTree>
    <p:extLst>
      <p:ext uri="{BB962C8B-B14F-4D97-AF65-F5344CB8AC3E}">
        <p14:creationId xmlns:p14="http://schemas.microsoft.com/office/powerpoint/2010/main" val="250663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85F8554-6012-48FB-9EFD-A5D45D67C9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0">
            <a:solidFill>
              <a:srgbClr val="FFFDF7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6FA214-22A2-4FD1-9EBB-BA71DC7A51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783F1F-EDD2-40A1-A218-20B98BF4C10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Technical Architecture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29E04F-193F-48C0-ABD7-DDCD3FF275F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rPr>
              <a:t>技术实现方案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301714-BDA8-4BE9-96DF-EDDF91A1361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04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益小助 | 基于 AI 的校园公益资源智能匹配小程序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060F57-7539-4264-95FC-CE0BCB4E0FA2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7B7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B7140C-5239-41CB-BB1E-649CAA52F2BB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23812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08FEFD-B26A-420F-AC55-4A9A68CBF86C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2381250" cy="28575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387700-396E-421F-8334-058D2B0FE63B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表现层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635DE6-AEF1-4FB0-B5D6-AD209CEE4FE3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2000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微信小程序前端</a:t>
            </a:r>
          </a:p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页面展示、表单交互</a:t>
            </a:r>
          </a:p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图片选择与状态反馈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AE86AB-A33D-4CAD-81E3-4D526FF49420}"/>
              </a:ext>
            </a:extLst>
          </p:cNvPr>
          <p:cNvSpPr>
            <a:spLocks noGrp="1"/>
          </p:cNvSpPr>
          <p:nvPr/>
        </p:nvSpPr>
        <p:spPr>
          <a:xfrm>
            <a:off x="3409950" y="1771650"/>
            <a:ext cx="23812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AEF3CE-470A-4973-9CF7-D4A72E61B439}"/>
              </a:ext>
            </a:extLst>
          </p:cNvPr>
          <p:cNvSpPr>
            <a:spLocks noGrp="1"/>
          </p:cNvSpPr>
          <p:nvPr/>
        </p:nvSpPr>
        <p:spPr>
          <a:xfrm>
            <a:off x="3409950" y="1771650"/>
            <a:ext cx="2381250" cy="28575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0A4FC2-52DD-4EBC-8CA7-87841103DB5D}"/>
              </a:ext>
            </a:extLst>
          </p:cNvPr>
          <p:cNvSpPr>
            <a:spLocks noGrp="1"/>
          </p:cNvSpPr>
          <p:nvPr/>
        </p:nvSpPr>
        <p:spPr>
          <a:xfrm>
            <a:off x="3581400" y="18288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业务层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F93176-1F6A-494B-94B3-26AA4EE19D28}"/>
              </a:ext>
            </a:extLst>
          </p:cNvPr>
          <p:cNvSpPr>
            <a:spLocks noGrp="1"/>
          </p:cNvSpPr>
          <p:nvPr/>
        </p:nvSpPr>
        <p:spPr>
          <a:xfrm>
            <a:off x="3581400" y="2266950"/>
            <a:ext cx="2000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Node.js + Express</a:t>
            </a:r>
          </a:p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接口实现、审核逻辑</a:t>
            </a:r>
          </a:p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匹配逻辑与消息通知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948EEB-FEDA-4F64-A54C-14F679235070}"/>
              </a:ext>
            </a:extLst>
          </p:cNvPr>
          <p:cNvSpPr>
            <a:spLocks noGrp="1"/>
          </p:cNvSpPr>
          <p:nvPr/>
        </p:nvSpPr>
        <p:spPr>
          <a:xfrm>
            <a:off x="6134100" y="1771650"/>
            <a:ext cx="23812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CBB999-DB33-440D-B481-27AB55BF6658}"/>
              </a:ext>
            </a:extLst>
          </p:cNvPr>
          <p:cNvSpPr>
            <a:spLocks noGrp="1"/>
          </p:cNvSpPr>
          <p:nvPr/>
        </p:nvSpPr>
        <p:spPr>
          <a:xfrm>
            <a:off x="6134100" y="1771650"/>
            <a:ext cx="238125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3CB78A-3CB7-449B-A9C9-5CD7AEF29C79}"/>
              </a:ext>
            </a:extLst>
          </p:cNvPr>
          <p:cNvSpPr>
            <a:spLocks noGrp="1"/>
          </p:cNvSpPr>
          <p:nvPr/>
        </p:nvSpPr>
        <p:spPr>
          <a:xfrm>
            <a:off x="6305550" y="18288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数据层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5B8DCD-F599-4B28-B73D-199296C299A4}"/>
              </a:ext>
            </a:extLst>
          </p:cNvPr>
          <p:cNvSpPr>
            <a:spLocks noGrp="1"/>
          </p:cNvSpPr>
          <p:nvPr/>
        </p:nvSpPr>
        <p:spPr>
          <a:xfrm>
            <a:off x="6305550" y="2266950"/>
            <a:ext cx="2000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MySQL</a:t>
            </a:r>
          </a:p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用户、资源、需求、评价</a:t>
            </a:r>
          </a:p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等核心数据持久化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394BEF4-64F7-4CDC-BFF4-ACBFE66EC1CE}"/>
              </a:ext>
            </a:extLst>
          </p:cNvPr>
          <p:cNvSpPr>
            <a:spLocks noGrp="1"/>
          </p:cNvSpPr>
          <p:nvPr/>
        </p:nvSpPr>
        <p:spPr>
          <a:xfrm>
            <a:off x="8858250" y="1771650"/>
            <a:ext cx="23812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329C6D6-1E41-4295-ADDF-92F2A9EE6EEB}"/>
              </a:ext>
            </a:extLst>
          </p:cNvPr>
          <p:cNvSpPr>
            <a:spLocks noGrp="1"/>
          </p:cNvSpPr>
          <p:nvPr/>
        </p:nvSpPr>
        <p:spPr>
          <a:xfrm>
            <a:off x="8858250" y="1771650"/>
            <a:ext cx="2381250" cy="285750"/>
          </a:xfrm>
          <a:prstGeom prst="rect">
            <a:avLst/>
          </a:prstGeom>
          <a:solidFill>
            <a:srgbClr val="224838"/>
          </a:solidFill>
          <a:ln w="0">
            <a:solidFill>
              <a:srgbClr val="22483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ECEE0E-2C65-4DEB-B3DA-6AFF57DE7333}"/>
              </a:ext>
            </a:extLst>
          </p:cNvPr>
          <p:cNvSpPr>
            <a:spLocks noGrp="1"/>
          </p:cNvSpPr>
          <p:nvPr/>
        </p:nvSpPr>
        <p:spPr>
          <a:xfrm>
            <a:off x="9029700" y="18288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能力层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E5A3A2-7A2C-4AEE-B854-2BF4D875B02F}"/>
              </a:ext>
            </a:extLst>
          </p:cNvPr>
          <p:cNvSpPr>
            <a:spLocks noGrp="1"/>
          </p:cNvSpPr>
          <p:nvPr/>
        </p:nvSpPr>
        <p:spPr>
          <a:xfrm>
            <a:off x="9029700" y="2266950"/>
            <a:ext cx="2000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第三方大模型 API</a:t>
            </a:r>
          </a:p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+ 规则引擎降级</a:t>
            </a:r>
          </a:p>
          <a:p>
            <a:pPr algn="l">
              <a:defRPr sz="1125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保证智能与稳定兼顾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B0FCB09-C8BE-4F5F-8795-D5EAB09563D5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1143000"/>
          </a:xfrm>
          <a:prstGeom prst="rect">
            <a:avLst/>
          </a:prstGeom>
          <a:solidFill>
            <a:srgbClr val="E8F2D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5E21242-B843-4FB1-82DC-8584DE302836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48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4838"/>
                </a:solidFill>
                <a:latin typeface="Aptos"/>
                <a:ea typeface="Aptos"/>
                <a:cs typeface="Aptos"/>
              </a:rPr>
              <a:t>技术实现要点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32B37E9-0C44-4A66-BB94-9272970389C8}"/>
              </a:ext>
            </a:extLst>
          </p:cNvPr>
          <p:cNvSpPr>
            <a:spLocks noGrp="1"/>
          </p:cNvSpPr>
          <p:nvPr/>
        </p:nvSpPr>
        <p:spPr>
          <a:xfrm>
            <a:off x="952500" y="508635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352D"/>
                </a:solidFill>
                <a:latin typeface="Aptos"/>
                <a:ea typeface="Aptos"/>
                <a:cs typeface="Aptos"/>
              </a:rPr>
              <a:t>当前已完成前端页面骨架、后端服务骨架、MySQL 建表脚本、Docker Compose 联调环境，以及图片上传、用户评估价、评价与信誉机制等比赛展示关键能力。真实 AI 接口可继续平滑接入。</a:t>
            </a:r>
          </a:p>
        </p:txBody>
      </p:sp>
    </p:spTree>
    <p:extLst>
      <p:ext uri="{BB962C8B-B14F-4D97-AF65-F5344CB8AC3E}">
        <p14:creationId xmlns:p14="http://schemas.microsoft.com/office/powerpoint/2010/main" val="1669475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E032C1C6-3883-41BE-83A9-04AD363126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0">
            <a:solidFill>
              <a:srgbClr val="FFFDF7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984990-1E45-41AF-B540-EB04CC5BB7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50EDE1-CE64-4062-AAD5-76A9ADF5BD8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Outcome &amp; Roadmap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676972-252D-404B-A419-8C5B52F2BF1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352D"/>
                </a:solidFill>
                <a:latin typeface="Aptos Display"/>
                <a:ea typeface="Aptos Display"/>
                <a:cs typeface="Aptos Display"/>
              </a:rPr>
              <a:t>当前成果、项目价值与后续规划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BF4D09-32EE-4EEA-9C73-F2E12424CC7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04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益小助 | 基于 AI 的校园公益资源智能匹配小程序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AA9552-E6EC-4064-B16B-6F8573057F9A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7B72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180BE0-6CDE-4D0F-AEF1-DE82D2817D5B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3238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215877-38D5-4893-BFB3-11C7181F737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6200" cy="161925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B3F693-0865-4867-ADC6-27A06ACCE798}"/>
              </a:ext>
            </a:extLst>
          </p:cNvPr>
          <p:cNvSpPr>
            <a:spLocks noGrp="1"/>
          </p:cNvSpPr>
          <p:nvPr/>
        </p:nvSpPr>
        <p:spPr>
          <a:xfrm>
            <a:off x="895350" y="184785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当前成果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CAA6C6-0C9D-454A-822C-320388DD7B0D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29146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已完成作品介绍文档、项目书、开发细节文档、前后端项目骨架、数据库脚本和 Word 版参赛材料。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B99C5B-950B-4DB6-BF63-1F1B778ABC14}"/>
              </a:ext>
            </a:extLst>
          </p:cNvPr>
          <p:cNvSpPr>
            <a:spLocks noGrp="1"/>
          </p:cNvSpPr>
          <p:nvPr/>
        </p:nvSpPr>
        <p:spPr>
          <a:xfrm>
            <a:off x="4476750" y="1676400"/>
            <a:ext cx="3238500" cy="1619250"/>
          </a:xfrm>
          <a:prstGeom prst="rect">
            <a:avLst/>
          </a:prstGeom>
          <a:solidFill>
            <a:srgbClr val="F9FBF7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037DB7-3B6C-4004-A433-385A297561FF}"/>
              </a:ext>
            </a:extLst>
          </p:cNvPr>
          <p:cNvSpPr>
            <a:spLocks noGrp="1"/>
          </p:cNvSpPr>
          <p:nvPr/>
        </p:nvSpPr>
        <p:spPr>
          <a:xfrm>
            <a:off x="4476750" y="1676400"/>
            <a:ext cx="76200" cy="16192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077E6C-B6FA-4A52-8358-98AAB784EB13}"/>
              </a:ext>
            </a:extLst>
          </p:cNvPr>
          <p:cNvSpPr>
            <a:spLocks noGrp="1"/>
          </p:cNvSpPr>
          <p:nvPr/>
        </p:nvSpPr>
        <p:spPr>
          <a:xfrm>
            <a:off x="4686300" y="184785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项目价值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BC3CB3-04EF-45F1-86C8-FA348C9894CB}"/>
              </a:ext>
            </a:extLst>
          </p:cNvPr>
          <p:cNvSpPr>
            <a:spLocks noGrp="1"/>
          </p:cNvSpPr>
          <p:nvPr/>
        </p:nvSpPr>
        <p:spPr>
          <a:xfrm>
            <a:off x="4686300" y="2190750"/>
            <a:ext cx="29146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提升校园闲置资源利用率，降低公益资源获取门槛，增强学生互助氛围，并验证 AI 在真实校园服务场景中的应用价值。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897AB5-CDA4-4191-A87D-FE7259E84FA3}"/>
              </a:ext>
            </a:extLst>
          </p:cNvPr>
          <p:cNvSpPr>
            <a:spLocks noGrp="1"/>
          </p:cNvSpPr>
          <p:nvPr/>
        </p:nvSpPr>
        <p:spPr>
          <a:xfrm>
            <a:off x="8267700" y="1676400"/>
            <a:ext cx="3238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D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0C9490-D5A7-4A83-8D6B-770AD66B462A}"/>
              </a:ext>
            </a:extLst>
          </p:cNvPr>
          <p:cNvSpPr>
            <a:spLocks noGrp="1"/>
          </p:cNvSpPr>
          <p:nvPr/>
        </p:nvSpPr>
        <p:spPr>
          <a:xfrm>
            <a:off x="8267700" y="1676400"/>
            <a:ext cx="76200" cy="161925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533B32-3FF3-49F0-B004-28CAF7D00C79}"/>
              </a:ext>
            </a:extLst>
          </p:cNvPr>
          <p:cNvSpPr>
            <a:spLocks noGrp="1"/>
          </p:cNvSpPr>
          <p:nvPr/>
        </p:nvSpPr>
        <p:spPr>
          <a:xfrm>
            <a:off x="8477250" y="184785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3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352D"/>
                </a:solidFill>
                <a:latin typeface="Aptos"/>
                <a:ea typeface="Aptos"/>
                <a:cs typeface="Aptos"/>
              </a:rPr>
              <a:t>后续规划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248B75-62ED-4C5A-B215-6FBEC720194B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9146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B72"/>
                </a:solidFill>
                <a:latin typeface="Aptos"/>
                <a:ea typeface="Aptos"/>
                <a:cs typeface="Aptos"/>
              </a:rPr>
              <a:t>继续接入真实对象存储与 AI 服务，补充地图交接点、公益活动报名、数据分析与用户画像推荐等能力。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82A353D-3B6A-4C46-A6FB-A08053835862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10820400" cy="1676400"/>
          </a:xfrm>
          <a:prstGeom prst="rect">
            <a:avLst/>
          </a:prstGeom>
          <a:solidFill>
            <a:srgbClr val="2F7D5C"/>
          </a:solidFill>
          <a:ln w="0">
            <a:solidFill>
              <a:srgbClr val="2F7D5C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920594F-DE88-440D-83F6-D7FA44B59FA6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答辩总结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C2032E-0C36-4715-B1AB-CAC3F262EAE2}"/>
              </a:ext>
            </a:extLst>
          </p:cNvPr>
          <p:cNvSpPr>
            <a:spLocks noGrp="1"/>
          </p:cNvSpPr>
          <p:nvPr/>
        </p:nvSpPr>
        <p:spPr>
          <a:xfrm>
            <a:off x="971550" y="4495800"/>
            <a:ext cx="9525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8FC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CFA"/>
                </a:solidFill>
                <a:latin typeface="Aptos"/>
                <a:ea typeface="Aptos"/>
                <a:cs typeface="Aptos"/>
              </a:rPr>
              <a:t>益小助以校园真实需求为基础，以微信小程序为载体，以 AI 为能力增益，围绕资源流转构建了完整业务闭环，兼具清晰展示价值与后续落地扩展空间。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4A272B-C258-40EB-92D8-B3B7C6CD9ECC}"/>
              </a:ext>
            </a:extLst>
          </p:cNvPr>
          <p:cNvSpPr>
            <a:spLocks noGrp="1"/>
          </p:cNvSpPr>
          <p:nvPr/>
        </p:nvSpPr>
        <p:spPr>
          <a:xfrm>
            <a:off x="971550" y="521970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7F6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6EE"/>
                </a:solidFill>
                <a:latin typeface="Aptos"/>
                <a:ea typeface="Aptos"/>
                <a:cs typeface="Aptos"/>
              </a:rPr>
              <a:t>项目地址：github.com/LcYun53188/yixiaozhu_miniprogram</a:t>
            </a:r>
          </a:p>
        </p:txBody>
      </p:sp>
    </p:spTree>
    <p:extLst>
      <p:ext uri="{BB962C8B-B14F-4D97-AF65-F5344CB8AC3E}">
        <p14:creationId xmlns:p14="http://schemas.microsoft.com/office/powerpoint/2010/main" val="21099909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562</Words>
  <Application>Microsoft Office PowerPoint</Application>
  <DocSecurity>0</DocSecurity>
  <PresentationFormat>宽屏</PresentationFormat>
  <Paragraphs>146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Yun Lc</cp:lastModifiedBy>
  <cp:revision>4</cp:revision>
  <dcterms:created xsi:type="dcterms:W3CDTF">2026-05-24T13:59:31Z</dcterms:created>
  <dcterms:modified xsi:type="dcterms:W3CDTF">2026-05-24T14:08:03Z</dcterms:modified>
</cp:coreProperties>
</file>